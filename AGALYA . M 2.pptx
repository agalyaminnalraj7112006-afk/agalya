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2" r:id="rId5"/>
    <p:sldId id="309" r:id="rId6"/>
    <p:sldId id="310" r:id="rId7"/>
    <p:sldId id="311" r:id="rId8"/>
    <p:sldId id="312" r:id="rId9"/>
    <p:sldId id="313" r:id="rId10"/>
    <p:sldId id="314" r:id="rId11"/>
    <p:sldId id="315" r:id="rId12"/>
    <p:sldId id="316" r:id="rId13"/>
    <p:sldId id="317" r:id="rId14"/>
    <p:sldId id="318" r:id="rId15"/>
    <p:sldId id="31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viewProps" Target="viewProps.xml" /><Relationship Id="rId3" Type="http://schemas.openxmlformats.org/officeDocument/2006/relationships/customXml" Target="../customXml/item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9/18/2025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9/18/2025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9/18/2025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9/18/2025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9/18/2025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9/18/2025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9/18/2025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9/18/2025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9/18/2025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9/18/2025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slideLayout" Target="../slideLayouts/slideLayout1.xml" /><Relationship Id="rId1" Type="http://schemas.openxmlformats.org/officeDocument/2006/relationships/themeOverride" Target="../theme/themeOverride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slideLayout" Target="../slideLayouts/slideLayout2.xml" /><Relationship Id="rId1" Type="http://schemas.openxmlformats.org/officeDocument/2006/relationships/themeOverride" Target="../theme/themeOverride2.xml" /></Relationships>
</file>

<file path=ppt/slides/_rels/slide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8" Type="http://schemas.openxmlformats.org/officeDocument/2006/relationships/image" Target="../media/image11.jpg" /><Relationship Id="rId3" Type="http://schemas.openxmlformats.org/officeDocument/2006/relationships/image" Target="../media/image6.jpg" /><Relationship Id="rId7" Type="http://schemas.openxmlformats.org/officeDocument/2006/relationships/image" Target="../media/image10.jpg" /><Relationship Id="rId2" Type="http://schemas.openxmlformats.org/officeDocument/2006/relationships/image" Target="../media/image5.jpg" /><Relationship Id="rId1" Type="http://schemas.openxmlformats.org/officeDocument/2006/relationships/slideLayout" Target="../slideLayouts/slideLayout7.xml" /><Relationship Id="rId6" Type="http://schemas.openxmlformats.org/officeDocument/2006/relationships/image" Target="../media/image9.jpg" /><Relationship Id="rId5" Type="http://schemas.openxmlformats.org/officeDocument/2006/relationships/image" Target="../media/image8.jpg" /><Relationship Id="rId10" Type="http://schemas.openxmlformats.org/officeDocument/2006/relationships/image" Target="../media/image13.jpg" /><Relationship Id="rId4" Type="http://schemas.openxmlformats.org/officeDocument/2006/relationships/image" Target="../media/image7.jpg" /><Relationship Id="rId9" Type="http://schemas.openxmlformats.org/officeDocument/2006/relationships/image" Target="../media/image12.jpg" /></Relationships>
</file>

<file path=ppt/slides/_rels/slide11.xml.rels><?xml version="1.0" encoding="UTF-8" standalone="yes"?>
<Relationships xmlns="http://schemas.openxmlformats.org/package/2006/relationships"><Relationship Id="rId3" Type="http://schemas.openxmlformats.org/officeDocument/2006/relationships/image" Target="../media/image15.jpg" /><Relationship Id="rId2" Type="http://schemas.openxmlformats.org/officeDocument/2006/relationships/image" Target="../media/image14.jp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3"/>
          <a:srcRect t="3846"/>
          <a:stretch/>
        </p:blipFill>
        <p:spPr>
          <a:xfrm>
            <a:off x="20" y="10"/>
            <a:ext cx="12191979" cy="6857990"/>
          </a:xfrm>
          <a:prstGeom prst="rect">
            <a:avLst/>
          </a:prstGeom>
        </p:spPr>
      </p:pic>
      <p:sp>
        <p:nvSpPr>
          <p:cNvPr id="19" name="Rectangle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21" name="Rectangle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sp>
      <p:sp>
        <p:nvSpPr>
          <p:cNvPr id="5" name="Rectangle 4">
            <a:extLst>
              <a:ext uri="{FF2B5EF4-FFF2-40B4-BE49-F238E27FC236}">
                <a16:creationId xmlns:a16="http://schemas.microsoft.com/office/drawing/2014/main" id="{BE5D0BAF-D1E0-677E-5AA2-6E3037B8CCC5}"/>
              </a:ext>
            </a:extLst>
          </p:cNvPr>
          <p:cNvSpPr/>
          <p:nvPr/>
        </p:nvSpPr>
        <p:spPr>
          <a:xfrm>
            <a:off x="2107325" y="206477"/>
            <a:ext cx="7887610" cy="76691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5400" dirty="0">
                <a:latin typeface="Algerian" panose="04020705040A02060702" pitchFamily="82" charset="0"/>
              </a:rPr>
              <a:t>DIGITAL PORTFOLIO</a:t>
            </a:r>
          </a:p>
        </p:txBody>
      </p:sp>
      <p:sp>
        <p:nvSpPr>
          <p:cNvPr id="9" name="Rectangle 8">
            <a:extLst>
              <a:ext uri="{FF2B5EF4-FFF2-40B4-BE49-F238E27FC236}">
                <a16:creationId xmlns:a16="http://schemas.microsoft.com/office/drawing/2014/main" id="{BC9085BC-82F7-0F90-9CDB-5233280E568C}"/>
              </a:ext>
            </a:extLst>
          </p:cNvPr>
          <p:cNvSpPr/>
          <p:nvPr/>
        </p:nvSpPr>
        <p:spPr>
          <a:xfrm>
            <a:off x="879295" y="1808532"/>
            <a:ext cx="6429826" cy="3240936"/>
          </a:xfrm>
          <a:prstGeom prst="rect">
            <a:avLst/>
          </a:prstGeom>
          <a:solidFill>
            <a:srgbClr val="404040"/>
          </a:solidFill>
          <a:ln>
            <a:solidFill>
              <a:schemeClr val="bg2"/>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0" name="Rectangle 9">
            <a:extLst>
              <a:ext uri="{FF2B5EF4-FFF2-40B4-BE49-F238E27FC236}">
                <a16:creationId xmlns:a16="http://schemas.microsoft.com/office/drawing/2014/main" id="{F6BB0AE7-BD97-1E7C-C13F-A48785BBFCC0}"/>
              </a:ext>
            </a:extLst>
          </p:cNvPr>
          <p:cNvSpPr/>
          <p:nvPr/>
        </p:nvSpPr>
        <p:spPr>
          <a:xfrm>
            <a:off x="995136" y="1930400"/>
            <a:ext cx="6198144" cy="299516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458449C-B197-4B09-4A04-BC0318796407}"/>
              </a:ext>
            </a:extLst>
          </p:cNvPr>
          <p:cNvSpPr/>
          <p:nvPr/>
        </p:nvSpPr>
        <p:spPr>
          <a:xfrm>
            <a:off x="1043766" y="1975104"/>
            <a:ext cx="6106842" cy="2907792"/>
          </a:xfrm>
          <a:prstGeom prst="rect">
            <a:avLst/>
          </a:prstGeom>
          <a:solidFill>
            <a:srgbClr val="404040"/>
          </a:solidFill>
          <a:ln>
            <a:solidFill>
              <a:schemeClr val="bg2"/>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6" name="TextBox 5">
            <a:extLst>
              <a:ext uri="{FF2B5EF4-FFF2-40B4-BE49-F238E27FC236}">
                <a16:creationId xmlns:a16="http://schemas.microsoft.com/office/drawing/2014/main" id="{3C47B41E-1F5E-A953-5AA7-D0B034EBEBC0}"/>
              </a:ext>
            </a:extLst>
          </p:cNvPr>
          <p:cNvSpPr txBox="1"/>
          <p:nvPr/>
        </p:nvSpPr>
        <p:spPr>
          <a:xfrm>
            <a:off x="1188176" y="2412320"/>
            <a:ext cx="11666394" cy="2031325"/>
          </a:xfrm>
          <a:prstGeom prst="rect">
            <a:avLst/>
          </a:prstGeom>
          <a:noFill/>
        </p:spPr>
        <p:txBody>
          <a:bodyPr wrap="square" rtlCol="0">
            <a:spAutoFit/>
          </a:bodyPr>
          <a:lstStyle/>
          <a:p>
            <a:pPr marL="285750" indent="-285750">
              <a:buFont typeface="Wingdings" panose="05000000000000000000" pitchFamily="2" charset="2"/>
              <a:buChar char="Ø"/>
            </a:pPr>
            <a:r>
              <a:rPr lang="en-IN" dirty="0"/>
              <a:t>STUDENT NAME : AGALYA . M</a:t>
            </a:r>
          </a:p>
          <a:p>
            <a:pPr marL="285750" indent="-285750">
              <a:buFont typeface="Wingdings" panose="05000000000000000000" pitchFamily="2" charset="2"/>
              <a:buChar char="Ø"/>
            </a:pPr>
            <a:r>
              <a:rPr lang="en-IN" dirty="0"/>
              <a:t>REGISTER NO       : 2422k2135</a:t>
            </a:r>
          </a:p>
          <a:p>
            <a:pPr marL="285750" indent="-285750">
              <a:buFont typeface="Wingdings" panose="05000000000000000000" pitchFamily="2" charset="2"/>
              <a:buChar char="Ø"/>
            </a:pPr>
            <a:r>
              <a:rPr lang="en-IN" dirty="0"/>
              <a:t> NMID   	        : asbru4w2422k2135</a:t>
            </a:r>
          </a:p>
          <a:p>
            <a:pPr marL="285750" indent="-285750">
              <a:buFont typeface="Wingdings" panose="05000000000000000000" pitchFamily="2" charset="2"/>
              <a:buChar char="Ø"/>
            </a:pPr>
            <a:r>
              <a:rPr lang="en-IN" dirty="0"/>
              <a:t>DEPARTMENT      : BSC.COMPUTER SCIENCE</a:t>
            </a:r>
          </a:p>
          <a:p>
            <a:pPr marL="285750" indent="-285750">
              <a:buFont typeface="Wingdings" panose="05000000000000000000" pitchFamily="2" charset="2"/>
              <a:buChar char="Ø"/>
            </a:pPr>
            <a:r>
              <a:rPr lang="en-IN" dirty="0"/>
              <a:t>COLLEGE	        : GOVT.ARTS &amp; SCIENCE  </a:t>
            </a:r>
          </a:p>
          <a:p>
            <a:r>
              <a:rPr lang="en-IN" dirty="0"/>
              <a:t>  		           COLLEGE-GUDALUR</a:t>
            </a:r>
          </a:p>
          <a:p>
            <a:pPr marL="285750" indent="-285750">
              <a:buFont typeface="Wingdings" panose="05000000000000000000" pitchFamily="2" charset="2"/>
              <a:buChar char="Ø"/>
            </a:pPr>
            <a:r>
              <a:rPr lang="en-IN" dirty="0"/>
              <a:t>UNIVERSITY          : BHARATHIYAR UNIVERSITY</a:t>
            </a: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8085-1FFF-44DD-A144-D794D923CF00}"/>
              </a:ext>
            </a:extLst>
          </p:cNvPr>
          <p:cNvSpPr>
            <a:spLocks noGrp="1"/>
          </p:cNvSpPr>
          <p:nvPr>
            <p:ph type="title"/>
          </p:nvPr>
        </p:nvSpPr>
        <p:spPr>
          <a:xfrm>
            <a:off x="1066800" y="642594"/>
            <a:ext cx="10058400" cy="1371600"/>
          </a:xfrm>
        </p:spPr>
        <p:txBody>
          <a:bodyPr>
            <a:normAutofit/>
          </a:bodyPr>
          <a:lstStyle/>
          <a:p>
            <a:pPr algn="ctr"/>
            <a:r>
              <a:rPr lang="en-US" sz="6600" u="sng" dirty="0">
                <a:latin typeface="Algerian" panose="04020705040A02060702" pitchFamily="82" charset="0"/>
              </a:rPr>
              <a:t>PROJECT TITTLE</a:t>
            </a:r>
          </a:p>
        </p:txBody>
      </p:sp>
      <p:sp>
        <p:nvSpPr>
          <p:cNvPr id="6" name="Oval 5">
            <a:extLst>
              <a:ext uri="{FF2B5EF4-FFF2-40B4-BE49-F238E27FC236}">
                <a16:creationId xmlns:a16="http://schemas.microsoft.com/office/drawing/2014/main" id="{87476F55-3F4A-0EA8-BF7C-A3AD26ACE918}"/>
              </a:ext>
            </a:extLst>
          </p:cNvPr>
          <p:cNvSpPr/>
          <p:nvPr/>
        </p:nvSpPr>
        <p:spPr>
          <a:xfrm>
            <a:off x="7802880" y="2286000"/>
            <a:ext cx="3688080" cy="3799840"/>
          </a:xfrm>
          <a:prstGeom prst="ellipse">
            <a:avLst/>
          </a:prstGeom>
          <a:solidFill>
            <a:schemeClr val="bg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solidFill>
                <a:schemeClr val="bg1"/>
              </a:solidFill>
            </a:endParaRPr>
          </a:p>
        </p:txBody>
      </p:sp>
      <p:pic>
        <p:nvPicPr>
          <p:cNvPr id="14" name="Picture 13">
            <a:extLst>
              <a:ext uri="{FF2B5EF4-FFF2-40B4-BE49-F238E27FC236}">
                <a16:creationId xmlns:a16="http://schemas.microsoft.com/office/drawing/2014/main" id="{DB57D1A3-1FBE-161D-5491-33BBB246F64C}"/>
              </a:ext>
            </a:extLst>
          </p:cNvPr>
          <p:cNvPicPr>
            <a:picLocks noChangeAspect="1"/>
          </p:cNvPicPr>
          <p:nvPr/>
        </p:nvPicPr>
        <p:blipFill>
          <a:blip r:embed="rId3"/>
          <a:stretch>
            <a:fillRect/>
          </a:stretch>
        </p:blipFill>
        <p:spPr>
          <a:xfrm>
            <a:off x="7680961" y="2286000"/>
            <a:ext cx="3607040" cy="4309506"/>
          </a:xfrm>
          <a:prstGeom prst="rect">
            <a:avLst/>
          </a:prstGeom>
        </p:spPr>
      </p:pic>
      <p:sp>
        <p:nvSpPr>
          <p:cNvPr id="15" name="TextBox 14">
            <a:extLst>
              <a:ext uri="{FF2B5EF4-FFF2-40B4-BE49-F238E27FC236}">
                <a16:creationId xmlns:a16="http://schemas.microsoft.com/office/drawing/2014/main" id="{979AA824-98AA-83C1-11EC-B82B319D5E04}"/>
              </a:ext>
            </a:extLst>
          </p:cNvPr>
          <p:cNvSpPr txBox="1"/>
          <p:nvPr/>
        </p:nvSpPr>
        <p:spPr>
          <a:xfrm>
            <a:off x="615228" y="3291840"/>
            <a:ext cx="7547786" cy="769441"/>
          </a:xfrm>
          <a:prstGeom prst="rect">
            <a:avLst/>
          </a:prstGeom>
          <a:noFill/>
        </p:spPr>
        <p:txBody>
          <a:bodyPr wrap="square" rtlCol="0">
            <a:spAutoFit/>
          </a:bodyPr>
          <a:lstStyle/>
          <a:p>
            <a:r>
              <a:rPr lang="en-IN" sz="4400" dirty="0">
                <a:latin typeface="Bookman Old Style" panose="02050604050505020204" pitchFamily="18" charset="0"/>
                <a:cs typeface="Arial" panose="020B0604020202020204" pitchFamily="34" charset="0"/>
              </a:rPr>
              <a:t>AGALYA’S  PORTFOLIO</a:t>
            </a:r>
          </a:p>
        </p:txBody>
      </p:sp>
    </p:spTree>
    <p:extLst>
      <p:ext uri="{BB962C8B-B14F-4D97-AF65-F5344CB8AC3E}">
        <p14:creationId xmlns:p14="http://schemas.microsoft.com/office/powerpoint/2010/main" val="383377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65838F-FEAD-7F18-7B3E-02C181B3A230}"/>
              </a:ext>
            </a:extLst>
          </p:cNvPr>
          <p:cNvSpPr txBox="1"/>
          <p:nvPr/>
        </p:nvSpPr>
        <p:spPr>
          <a:xfrm>
            <a:off x="701040" y="802640"/>
            <a:ext cx="7183120" cy="5583260"/>
          </a:xfrm>
          <a:prstGeom prst="rect">
            <a:avLst/>
          </a:prstGeom>
          <a:noFill/>
        </p:spPr>
        <p:txBody>
          <a:bodyPr wrap="square" rtlCol="0">
            <a:spAutoFit/>
          </a:bodyPr>
          <a:lstStyle/>
          <a:p>
            <a:pPr>
              <a:lnSpc>
                <a:spcPct val="150000"/>
              </a:lnSpc>
              <a:spcBef>
                <a:spcPts val="1200"/>
              </a:spcBef>
            </a:pPr>
            <a:endParaRPr lang="en-IN" b="1" dirty="0"/>
          </a:p>
          <a:p>
            <a:pPr marL="285750" indent="-285750">
              <a:lnSpc>
                <a:spcPct val="150000"/>
              </a:lnSpc>
              <a:spcBef>
                <a:spcPts val="1200"/>
              </a:spcBef>
              <a:buFont typeface="Wingdings" panose="05000000000000000000" pitchFamily="2" charset="2"/>
              <a:buChar char="v"/>
            </a:pPr>
            <a:r>
              <a:rPr lang="en-IN" b="1" dirty="0"/>
              <a:t>Problem  statement</a:t>
            </a:r>
          </a:p>
          <a:p>
            <a:pPr marL="285750" indent="-285750">
              <a:lnSpc>
                <a:spcPct val="150000"/>
              </a:lnSpc>
              <a:spcBef>
                <a:spcPts val="1200"/>
              </a:spcBef>
              <a:buFont typeface="Wingdings" panose="05000000000000000000" pitchFamily="2" charset="2"/>
              <a:buChar char="v"/>
            </a:pPr>
            <a:r>
              <a:rPr lang="en-IN" b="1" dirty="0"/>
              <a:t>Project  overview</a:t>
            </a:r>
          </a:p>
          <a:p>
            <a:pPr marL="285750" indent="-285750">
              <a:lnSpc>
                <a:spcPct val="150000"/>
              </a:lnSpc>
              <a:spcBef>
                <a:spcPts val="1200"/>
              </a:spcBef>
              <a:buFont typeface="Wingdings" panose="05000000000000000000" pitchFamily="2" charset="2"/>
              <a:buChar char="v"/>
            </a:pPr>
            <a:r>
              <a:rPr lang="en-IN" b="1" dirty="0"/>
              <a:t>Tools  and  technologies</a:t>
            </a:r>
          </a:p>
          <a:p>
            <a:pPr marL="285750" indent="-285750">
              <a:lnSpc>
                <a:spcPct val="150000"/>
              </a:lnSpc>
              <a:spcBef>
                <a:spcPts val="1200"/>
              </a:spcBef>
              <a:buFont typeface="Wingdings" panose="05000000000000000000" pitchFamily="2" charset="2"/>
              <a:buChar char="v"/>
            </a:pPr>
            <a:r>
              <a:rPr lang="en-IN" b="1" dirty="0"/>
              <a:t>Portfolio  design  and  layout</a:t>
            </a:r>
          </a:p>
          <a:p>
            <a:pPr marL="285750" indent="-285750">
              <a:lnSpc>
                <a:spcPct val="150000"/>
              </a:lnSpc>
              <a:spcBef>
                <a:spcPts val="1200"/>
              </a:spcBef>
              <a:buFont typeface="Wingdings" panose="05000000000000000000" pitchFamily="2" charset="2"/>
              <a:buChar char="v"/>
            </a:pPr>
            <a:r>
              <a:rPr lang="en-IN" b="1" dirty="0"/>
              <a:t>Features  and  functionality</a:t>
            </a:r>
          </a:p>
          <a:p>
            <a:pPr marL="285750" indent="-285750">
              <a:lnSpc>
                <a:spcPct val="150000"/>
              </a:lnSpc>
              <a:spcBef>
                <a:spcPts val="1200"/>
              </a:spcBef>
              <a:buFont typeface="Wingdings" panose="05000000000000000000" pitchFamily="2" charset="2"/>
              <a:buChar char="v"/>
            </a:pPr>
            <a:r>
              <a:rPr lang="en-IN" b="1" dirty="0"/>
              <a:t>Results  and  screenshots</a:t>
            </a:r>
          </a:p>
          <a:p>
            <a:pPr marL="285750" indent="-285750">
              <a:lnSpc>
                <a:spcPct val="150000"/>
              </a:lnSpc>
              <a:spcBef>
                <a:spcPts val="1200"/>
              </a:spcBef>
              <a:buFont typeface="Wingdings" panose="05000000000000000000" pitchFamily="2" charset="2"/>
              <a:buChar char="v"/>
            </a:pPr>
            <a:r>
              <a:rPr lang="en-IN" b="1" dirty="0"/>
              <a:t>Conclusion </a:t>
            </a:r>
          </a:p>
          <a:p>
            <a:pPr marL="285750" indent="-285750">
              <a:lnSpc>
                <a:spcPct val="150000"/>
              </a:lnSpc>
              <a:spcBef>
                <a:spcPts val="1200"/>
              </a:spcBef>
              <a:buFont typeface="Wingdings" panose="05000000000000000000" pitchFamily="2" charset="2"/>
              <a:buChar char="v"/>
            </a:pPr>
            <a:r>
              <a:rPr lang="en-IN" b="1" dirty="0"/>
              <a:t>GitHub link </a:t>
            </a:r>
          </a:p>
          <a:p>
            <a:pPr>
              <a:lnSpc>
                <a:spcPct val="150000"/>
              </a:lnSpc>
              <a:spcBef>
                <a:spcPts val="1200"/>
              </a:spcBef>
            </a:pPr>
            <a:endParaRPr lang="en-IN" dirty="0"/>
          </a:p>
        </p:txBody>
      </p:sp>
      <p:pic>
        <p:nvPicPr>
          <p:cNvPr id="4" name="Picture 3">
            <a:extLst>
              <a:ext uri="{FF2B5EF4-FFF2-40B4-BE49-F238E27FC236}">
                <a16:creationId xmlns:a16="http://schemas.microsoft.com/office/drawing/2014/main" id="{4BF08357-24D9-812E-1F89-633A93087155}"/>
              </a:ext>
            </a:extLst>
          </p:cNvPr>
          <p:cNvPicPr>
            <a:picLocks noChangeAspect="1"/>
          </p:cNvPicPr>
          <p:nvPr/>
        </p:nvPicPr>
        <p:blipFill>
          <a:blip r:embed="rId2"/>
          <a:stretch>
            <a:fillRect/>
          </a:stretch>
        </p:blipFill>
        <p:spPr>
          <a:xfrm>
            <a:off x="7426957" y="2245357"/>
            <a:ext cx="3810003" cy="3810003"/>
          </a:xfrm>
          <a:prstGeom prst="rect">
            <a:avLst/>
          </a:prstGeom>
        </p:spPr>
      </p:pic>
      <p:sp>
        <p:nvSpPr>
          <p:cNvPr id="8" name="TextBox 7">
            <a:extLst>
              <a:ext uri="{FF2B5EF4-FFF2-40B4-BE49-F238E27FC236}">
                <a16:creationId xmlns:a16="http://schemas.microsoft.com/office/drawing/2014/main" id="{7617DB65-1D23-143F-ADCD-ABCFE099B73F}"/>
              </a:ext>
            </a:extLst>
          </p:cNvPr>
          <p:cNvSpPr txBox="1"/>
          <p:nvPr/>
        </p:nvSpPr>
        <p:spPr>
          <a:xfrm>
            <a:off x="4457570" y="294808"/>
            <a:ext cx="3276859" cy="1015663"/>
          </a:xfrm>
          <a:prstGeom prst="rect">
            <a:avLst/>
          </a:prstGeom>
          <a:noFill/>
        </p:spPr>
        <p:txBody>
          <a:bodyPr wrap="none" rtlCol="0">
            <a:spAutoFit/>
          </a:bodyPr>
          <a:lstStyle/>
          <a:p>
            <a:pPr algn="ctr"/>
            <a:r>
              <a:rPr lang="en-US" sz="6000" u="sng" dirty="0">
                <a:latin typeface="Algerian" panose="04020705040A02060702" pitchFamily="82" charset="0"/>
              </a:rPr>
              <a:t>AGENDA</a:t>
            </a:r>
            <a:endParaRPr lang="en-IN" sz="6000" dirty="0"/>
          </a:p>
        </p:txBody>
      </p:sp>
    </p:spTree>
    <p:extLst>
      <p:ext uri="{BB962C8B-B14F-4D97-AF65-F5344CB8AC3E}">
        <p14:creationId xmlns:p14="http://schemas.microsoft.com/office/powerpoint/2010/main" val="3720781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E6058B-A866-4706-EE07-D958D0BE9C0B}"/>
              </a:ext>
            </a:extLst>
          </p:cNvPr>
          <p:cNvSpPr txBox="1"/>
          <p:nvPr/>
        </p:nvSpPr>
        <p:spPr>
          <a:xfrm>
            <a:off x="3048000" y="379214"/>
            <a:ext cx="6096000" cy="707886"/>
          </a:xfrm>
          <a:prstGeom prst="rect">
            <a:avLst/>
          </a:prstGeom>
          <a:noFill/>
        </p:spPr>
        <p:txBody>
          <a:bodyPr wrap="square">
            <a:spAutoFit/>
          </a:bodyPr>
          <a:lstStyle/>
          <a:p>
            <a:pPr algn="ctr"/>
            <a:r>
              <a:rPr lang="en-US" sz="4000" u="sng" dirty="0">
                <a:latin typeface="Algerian" panose="04020705040A02060702" pitchFamily="82" charset="0"/>
              </a:rPr>
              <a:t>PROBLEM STATEMENT</a:t>
            </a:r>
            <a:endParaRPr lang="en-IN" sz="4000" dirty="0"/>
          </a:p>
        </p:txBody>
      </p:sp>
      <p:sp>
        <p:nvSpPr>
          <p:cNvPr id="4" name="TextBox 3">
            <a:extLst>
              <a:ext uri="{FF2B5EF4-FFF2-40B4-BE49-F238E27FC236}">
                <a16:creationId xmlns:a16="http://schemas.microsoft.com/office/drawing/2014/main" id="{7C182A26-0724-28D8-0EA7-0122E65077D7}"/>
              </a:ext>
            </a:extLst>
          </p:cNvPr>
          <p:cNvSpPr txBox="1"/>
          <p:nvPr/>
        </p:nvSpPr>
        <p:spPr>
          <a:xfrm>
            <a:off x="512189" y="936243"/>
            <a:ext cx="11304673" cy="5542543"/>
          </a:xfrm>
          <a:prstGeom prst="rect">
            <a:avLst/>
          </a:prstGeom>
          <a:noFill/>
        </p:spPr>
        <p:txBody>
          <a:bodyPr wrap="square" rtlCol="0">
            <a:spAutoFit/>
          </a:bodyPr>
          <a:lstStyle/>
          <a:p>
            <a:pPr>
              <a:lnSpc>
                <a:spcPct val="150000"/>
              </a:lnSpc>
              <a:spcBef>
                <a:spcPts val="600"/>
              </a:spcBef>
            </a:pPr>
            <a:endParaRPr lang="en-IN" sz="1600" dirty="0"/>
          </a:p>
          <a:p>
            <a:pPr marL="285750" indent="-285750">
              <a:lnSpc>
                <a:spcPct val="150000"/>
              </a:lnSpc>
              <a:spcBef>
                <a:spcPts val="600"/>
              </a:spcBef>
              <a:buFont typeface="Arial" panose="020B0604020202020204" pitchFamily="34" charset="0"/>
              <a:buChar char="•"/>
            </a:pPr>
            <a:r>
              <a:rPr lang="en-IN" sz="1600" dirty="0"/>
              <a:t>Problem Statement: Digital Portfolio</a:t>
            </a:r>
          </a:p>
          <a:p>
            <a:pPr marL="285750" indent="-285750">
              <a:lnSpc>
                <a:spcPct val="150000"/>
              </a:lnSpc>
              <a:spcBef>
                <a:spcPts val="600"/>
              </a:spcBef>
              <a:buFont typeface="Arial" panose="020B0604020202020204" pitchFamily="34" charset="0"/>
              <a:buChar char="•"/>
            </a:pPr>
            <a:r>
              <a:rPr lang="en-US" sz="1600" dirty="0"/>
              <a:t>In the modern academic and professional world, students need a platform to showcase their skills, projects, achievements, and experiences. Traditional resumes are often limited in content and engagement. A digital portfolio offers a more dynamic, organized, and accessible way to present one's profile.</a:t>
            </a:r>
          </a:p>
          <a:p>
            <a:pPr marL="285750" indent="-285750">
              <a:lnSpc>
                <a:spcPct val="150000"/>
              </a:lnSpc>
              <a:spcBef>
                <a:spcPts val="600"/>
              </a:spcBef>
              <a:buFont typeface="Arial" panose="020B0604020202020204" pitchFamily="34" charset="0"/>
              <a:buChar char="•"/>
            </a:pPr>
            <a:r>
              <a:rPr lang="en-US" sz="1600" dirty="0"/>
              <a:t>The goal of this project is to design and develop a personal digital portfolio website that allows a student to display their:</a:t>
            </a:r>
          </a:p>
          <a:p>
            <a:pPr marL="285750" indent="-285750">
              <a:lnSpc>
                <a:spcPct val="150000"/>
              </a:lnSpc>
              <a:spcBef>
                <a:spcPts val="600"/>
              </a:spcBef>
              <a:buFont typeface="Arial" panose="020B0604020202020204" pitchFamily="34" charset="0"/>
              <a:buChar char="•"/>
            </a:pPr>
            <a:r>
              <a:rPr lang="en-IN" sz="1600" dirty="0"/>
              <a:t>-  Academic background  </a:t>
            </a:r>
          </a:p>
          <a:p>
            <a:pPr marL="285750" indent="-285750">
              <a:lnSpc>
                <a:spcPct val="150000"/>
              </a:lnSpc>
              <a:spcBef>
                <a:spcPts val="600"/>
              </a:spcBef>
              <a:buFont typeface="Arial" panose="020B0604020202020204" pitchFamily="34" charset="0"/>
              <a:buChar char="•"/>
            </a:pPr>
            <a:r>
              <a:rPr lang="en-IN" sz="1600" dirty="0"/>
              <a:t>-  Technical and soft skills  </a:t>
            </a:r>
          </a:p>
          <a:p>
            <a:pPr marL="285750" indent="-285750">
              <a:lnSpc>
                <a:spcPct val="150000"/>
              </a:lnSpc>
              <a:spcBef>
                <a:spcPts val="600"/>
              </a:spcBef>
              <a:buFont typeface="Arial" panose="020B0604020202020204" pitchFamily="34" charset="0"/>
              <a:buChar char="•"/>
            </a:pPr>
            <a:r>
              <a:rPr lang="en-IN" sz="1600" dirty="0"/>
              <a:t>-  Projects and certifications  </a:t>
            </a:r>
          </a:p>
          <a:p>
            <a:pPr marL="285750" indent="-285750">
              <a:lnSpc>
                <a:spcPct val="150000"/>
              </a:lnSpc>
              <a:spcBef>
                <a:spcPts val="600"/>
              </a:spcBef>
              <a:buFont typeface="Arial" panose="020B0604020202020204" pitchFamily="34" charset="0"/>
              <a:buChar char="•"/>
            </a:pPr>
            <a:r>
              <a:rPr lang="en-IN" sz="1600" dirty="0"/>
              <a:t>-  Internships or experience  </a:t>
            </a:r>
          </a:p>
          <a:p>
            <a:pPr marL="285750" indent="-285750">
              <a:lnSpc>
                <a:spcPct val="150000"/>
              </a:lnSpc>
              <a:spcBef>
                <a:spcPts val="600"/>
              </a:spcBef>
              <a:buFont typeface="Arial" panose="020B0604020202020204" pitchFamily="34" charset="0"/>
              <a:buChar char="•"/>
            </a:pPr>
            <a:r>
              <a:rPr lang="en-US" sz="1600" dirty="0"/>
              <a:t>-  Contact information and links ( GitHub, LinkedIn, etc. )</a:t>
            </a:r>
          </a:p>
          <a:p>
            <a:pPr>
              <a:lnSpc>
                <a:spcPct val="150000"/>
              </a:lnSpc>
              <a:spcBef>
                <a:spcPts val="600"/>
              </a:spcBef>
            </a:pPr>
            <a:endParaRPr lang="en-IN" sz="1600" dirty="0"/>
          </a:p>
        </p:txBody>
      </p:sp>
    </p:spTree>
    <p:extLst>
      <p:ext uri="{BB962C8B-B14F-4D97-AF65-F5344CB8AC3E}">
        <p14:creationId xmlns:p14="http://schemas.microsoft.com/office/powerpoint/2010/main" val="1679788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2028E4-7AF9-4268-9DB3-326E8BB0E580}"/>
              </a:ext>
            </a:extLst>
          </p:cNvPr>
          <p:cNvSpPr txBox="1"/>
          <p:nvPr/>
        </p:nvSpPr>
        <p:spPr>
          <a:xfrm>
            <a:off x="2915240" y="484636"/>
            <a:ext cx="6094428" cy="646331"/>
          </a:xfrm>
          <a:prstGeom prst="rect">
            <a:avLst/>
          </a:prstGeom>
          <a:noFill/>
        </p:spPr>
        <p:txBody>
          <a:bodyPr wrap="square">
            <a:spAutoFit/>
          </a:bodyPr>
          <a:lstStyle/>
          <a:p>
            <a:pPr algn="ctr"/>
            <a:r>
              <a:rPr lang="en-US" sz="3600" u="sng" dirty="0">
                <a:latin typeface="Algerian" panose="04020705040A02060702" pitchFamily="82" charset="0"/>
              </a:rPr>
              <a:t>Project overview</a:t>
            </a:r>
            <a:endParaRPr lang="en-IN" sz="3600" dirty="0"/>
          </a:p>
        </p:txBody>
      </p:sp>
      <p:sp>
        <p:nvSpPr>
          <p:cNvPr id="4" name="TextBox 3">
            <a:extLst>
              <a:ext uri="{FF2B5EF4-FFF2-40B4-BE49-F238E27FC236}">
                <a16:creationId xmlns:a16="http://schemas.microsoft.com/office/drawing/2014/main" id="{C0FD0EC0-8A92-A791-9E04-BF33BC737E0B}"/>
              </a:ext>
            </a:extLst>
          </p:cNvPr>
          <p:cNvSpPr txBox="1"/>
          <p:nvPr/>
        </p:nvSpPr>
        <p:spPr>
          <a:xfrm>
            <a:off x="505853" y="1045028"/>
            <a:ext cx="11180294" cy="5401479"/>
          </a:xfrm>
          <a:prstGeom prst="rect">
            <a:avLst/>
          </a:prstGeom>
          <a:noFill/>
        </p:spPr>
        <p:txBody>
          <a:bodyPr wrap="square" rtlCol="0">
            <a:spAutoFit/>
          </a:bodyPr>
          <a:lstStyle/>
          <a:p>
            <a:endParaRPr lang="en-IN" sz="1600" dirty="0"/>
          </a:p>
          <a:p>
            <a:pPr marL="285750" indent="-285750">
              <a:lnSpc>
                <a:spcPct val="150000"/>
              </a:lnSpc>
              <a:spcBef>
                <a:spcPts val="600"/>
              </a:spcBef>
              <a:buFont typeface="Arial" panose="020B0604020202020204" pitchFamily="34" charset="0"/>
              <a:buChar char="•"/>
            </a:pPr>
            <a:r>
              <a:rPr lang="en-IN" sz="1600" dirty="0"/>
              <a:t>Project Overview: Digital Portfolio</a:t>
            </a:r>
          </a:p>
          <a:p>
            <a:pPr marL="285750" indent="-285750">
              <a:lnSpc>
                <a:spcPct val="150000"/>
              </a:lnSpc>
              <a:spcBef>
                <a:spcPts val="600"/>
              </a:spcBef>
              <a:buFont typeface="Arial" panose="020B0604020202020204" pitchFamily="34" charset="0"/>
              <a:buChar char="•"/>
            </a:pPr>
            <a:r>
              <a:rPr lang="en-US" sz="1600" dirty="0"/>
              <a:t>This project involves creating a personal digital portfolio website for a college student. The portfolio serves as an online resume and showcase of the student’s academic journey, technical skills, and projects. It allows potential employers, teachers, and collaborators to easily access the student’s background, achievements, and contact information.</a:t>
            </a:r>
          </a:p>
          <a:p>
            <a:pPr marL="285750" indent="-285750">
              <a:lnSpc>
                <a:spcPct val="150000"/>
              </a:lnSpc>
              <a:spcBef>
                <a:spcPts val="600"/>
              </a:spcBef>
              <a:buFont typeface="Arial" panose="020B0604020202020204" pitchFamily="34" charset="0"/>
              <a:buChar char="•"/>
            </a:pPr>
            <a:endParaRPr lang="en-US" sz="1600" dirty="0"/>
          </a:p>
          <a:p>
            <a:pPr marL="285750" indent="-285750">
              <a:lnSpc>
                <a:spcPct val="150000"/>
              </a:lnSpc>
              <a:spcBef>
                <a:spcPts val="600"/>
              </a:spcBef>
              <a:buFont typeface="Arial" panose="020B0604020202020204" pitchFamily="34" charset="0"/>
              <a:buChar char="•"/>
            </a:pPr>
            <a:r>
              <a:rPr lang="en-US" sz="1600" dirty="0"/>
              <a:t>The website is designed using  HTML, CSS, and JavaScript, ensuring it is responsive, user-friendly, and visually appealing across different devices. It includes sections such as About Me, Skills, Projects, Education, and Contact. The project not only highlights the student’s work but also demonstrates their web development abilities.</a:t>
            </a:r>
          </a:p>
          <a:p>
            <a:pPr marL="285750" indent="-285750">
              <a:lnSpc>
                <a:spcPct val="150000"/>
              </a:lnSpc>
              <a:spcBef>
                <a:spcPts val="600"/>
              </a:spcBef>
              <a:buFont typeface="Arial" panose="020B0604020202020204" pitchFamily="34" charset="0"/>
              <a:buChar char="•"/>
            </a:pPr>
            <a:r>
              <a:rPr lang="en-US" sz="1600" dirty="0"/>
              <a:t>This digital portfolio acts as a personal brand, helping the student stand out in academic and professional settings.</a:t>
            </a:r>
          </a:p>
          <a:p>
            <a:endParaRPr lang="en-IN" sz="1600" dirty="0"/>
          </a:p>
        </p:txBody>
      </p:sp>
    </p:spTree>
    <p:extLst>
      <p:ext uri="{BB962C8B-B14F-4D97-AF65-F5344CB8AC3E}">
        <p14:creationId xmlns:p14="http://schemas.microsoft.com/office/powerpoint/2010/main" val="3859917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4CAB40-5903-FD4C-01B8-4A6EA99AABD9}"/>
              </a:ext>
            </a:extLst>
          </p:cNvPr>
          <p:cNvSpPr txBox="1"/>
          <p:nvPr/>
        </p:nvSpPr>
        <p:spPr>
          <a:xfrm>
            <a:off x="3048000" y="453963"/>
            <a:ext cx="6096000" cy="646331"/>
          </a:xfrm>
          <a:prstGeom prst="rect">
            <a:avLst/>
          </a:prstGeom>
          <a:noFill/>
        </p:spPr>
        <p:txBody>
          <a:bodyPr wrap="square">
            <a:spAutoFit/>
          </a:bodyPr>
          <a:lstStyle/>
          <a:p>
            <a:pPr algn="ctr"/>
            <a:r>
              <a:rPr lang="en-US" sz="3600" u="sng" dirty="0">
                <a:latin typeface="Algerian" panose="04020705040A02060702" pitchFamily="82" charset="0"/>
              </a:rPr>
              <a:t>WHO ARE THE END USER’S ?</a:t>
            </a:r>
          </a:p>
        </p:txBody>
      </p:sp>
      <p:sp>
        <p:nvSpPr>
          <p:cNvPr id="4" name="TextBox 3">
            <a:extLst>
              <a:ext uri="{FF2B5EF4-FFF2-40B4-BE49-F238E27FC236}">
                <a16:creationId xmlns:a16="http://schemas.microsoft.com/office/drawing/2014/main" id="{FF8A2AA3-EA6E-70D9-467D-0F6868CABE85}"/>
              </a:ext>
            </a:extLst>
          </p:cNvPr>
          <p:cNvSpPr txBox="1"/>
          <p:nvPr/>
        </p:nvSpPr>
        <p:spPr>
          <a:xfrm>
            <a:off x="512466" y="1100294"/>
            <a:ext cx="11538857" cy="5013873"/>
          </a:xfrm>
          <a:prstGeom prst="rect">
            <a:avLst/>
          </a:prstGeom>
          <a:noFill/>
        </p:spPr>
        <p:txBody>
          <a:bodyPr wrap="square" rtlCol="0">
            <a:spAutoFit/>
          </a:bodyPr>
          <a:lstStyle/>
          <a:p>
            <a:pPr>
              <a:lnSpc>
                <a:spcPct val="150000"/>
              </a:lnSpc>
              <a:spcBef>
                <a:spcPts val="1200"/>
              </a:spcBef>
            </a:pPr>
            <a:endParaRPr lang="en-IN" dirty="0"/>
          </a:p>
          <a:p>
            <a:pPr>
              <a:lnSpc>
                <a:spcPct val="150000"/>
              </a:lnSpc>
              <a:spcBef>
                <a:spcPts val="1200"/>
              </a:spcBef>
            </a:pPr>
            <a:r>
              <a:rPr lang="en-US" dirty="0"/>
              <a:t>1. Students –To showcase their skills, projects, and achievements.  </a:t>
            </a:r>
          </a:p>
          <a:p>
            <a:pPr>
              <a:lnSpc>
                <a:spcPct val="150000"/>
              </a:lnSpc>
              <a:spcBef>
                <a:spcPts val="1200"/>
              </a:spcBef>
            </a:pPr>
            <a:r>
              <a:rPr lang="en-US" dirty="0"/>
              <a:t>2. Teachers &amp; Mentors –To evaluate a student's progress and work.  </a:t>
            </a:r>
          </a:p>
          <a:p>
            <a:pPr>
              <a:lnSpc>
                <a:spcPct val="150000"/>
              </a:lnSpc>
              <a:spcBef>
                <a:spcPts val="1200"/>
              </a:spcBef>
            </a:pPr>
            <a:r>
              <a:rPr lang="en-US" dirty="0"/>
              <a:t>3. Employers &amp; Recruiters –To review a candidate’s experience, skills, and project samples.  </a:t>
            </a:r>
          </a:p>
          <a:p>
            <a:pPr>
              <a:lnSpc>
                <a:spcPct val="150000"/>
              </a:lnSpc>
              <a:spcBef>
                <a:spcPts val="1200"/>
              </a:spcBef>
            </a:pPr>
            <a:r>
              <a:rPr lang="en-US" dirty="0"/>
              <a:t>4. College Admission Officers –To assess a student's profile during applications.  </a:t>
            </a:r>
          </a:p>
          <a:p>
            <a:pPr>
              <a:lnSpc>
                <a:spcPct val="150000"/>
              </a:lnSpc>
              <a:spcBef>
                <a:spcPts val="1200"/>
              </a:spcBef>
            </a:pPr>
            <a:r>
              <a:rPr lang="en-US" dirty="0"/>
              <a:t>5. Clients (Freelancers) –To view work samples before hiring.  </a:t>
            </a:r>
          </a:p>
          <a:p>
            <a:pPr>
              <a:lnSpc>
                <a:spcPct val="150000"/>
              </a:lnSpc>
              <a:spcBef>
                <a:spcPts val="1200"/>
              </a:spcBef>
            </a:pPr>
            <a:r>
              <a:rPr lang="en-US" dirty="0"/>
              <a:t>6. Peers or Collaborators –To explore potential partnerships or teamwork.  </a:t>
            </a:r>
          </a:p>
          <a:p>
            <a:pPr>
              <a:lnSpc>
                <a:spcPct val="150000"/>
              </a:lnSpc>
              <a:spcBef>
                <a:spcPts val="1200"/>
              </a:spcBef>
            </a:pPr>
            <a:r>
              <a:rPr lang="en-US" dirty="0"/>
              <a:t>7. General Public –For inspiration, learning, or networking.</a:t>
            </a:r>
          </a:p>
          <a:p>
            <a:pPr>
              <a:lnSpc>
                <a:spcPct val="150000"/>
              </a:lnSpc>
              <a:spcBef>
                <a:spcPts val="1200"/>
              </a:spcBef>
            </a:pPr>
            <a:endParaRPr lang="en-IN" dirty="0"/>
          </a:p>
        </p:txBody>
      </p:sp>
    </p:spTree>
    <p:extLst>
      <p:ext uri="{BB962C8B-B14F-4D97-AF65-F5344CB8AC3E}">
        <p14:creationId xmlns:p14="http://schemas.microsoft.com/office/powerpoint/2010/main" val="381334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E43F88-0045-161F-46D3-012BF215116C}"/>
              </a:ext>
            </a:extLst>
          </p:cNvPr>
          <p:cNvSpPr txBox="1"/>
          <p:nvPr/>
        </p:nvSpPr>
        <p:spPr>
          <a:xfrm>
            <a:off x="2469847" y="411982"/>
            <a:ext cx="7252306" cy="646331"/>
          </a:xfrm>
          <a:prstGeom prst="rect">
            <a:avLst/>
          </a:prstGeom>
          <a:noFill/>
        </p:spPr>
        <p:txBody>
          <a:bodyPr wrap="none" rtlCol="0">
            <a:spAutoFit/>
          </a:bodyPr>
          <a:lstStyle/>
          <a:p>
            <a:r>
              <a:rPr lang="en-US" sz="3600" dirty="0">
                <a:latin typeface="Algerian" panose="04020705040A02060702" pitchFamily="82" charset="0"/>
              </a:rPr>
              <a:t>TOOLS AND TECHNIQUES OF HTML</a:t>
            </a:r>
          </a:p>
        </p:txBody>
      </p:sp>
      <p:sp>
        <p:nvSpPr>
          <p:cNvPr id="3" name="TextBox 2">
            <a:extLst>
              <a:ext uri="{FF2B5EF4-FFF2-40B4-BE49-F238E27FC236}">
                <a16:creationId xmlns:a16="http://schemas.microsoft.com/office/drawing/2014/main" id="{F877A30E-988A-ABE6-18DA-5BA33B1C6A9D}"/>
              </a:ext>
            </a:extLst>
          </p:cNvPr>
          <p:cNvSpPr txBox="1"/>
          <p:nvPr/>
        </p:nvSpPr>
        <p:spPr>
          <a:xfrm>
            <a:off x="537958" y="735147"/>
            <a:ext cx="11654041" cy="6032421"/>
          </a:xfrm>
          <a:prstGeom prst="rect">
            <a:avLst/>
          </a:prstGeom>
          <a:noFill/>
        </p:spPr>
        <p:txBody>
          <a:bodyPr wrap="square" rtlCol="0">
            <a:spAutoFit/>
          </a:bodyPr>
          <a:lstStyle/>
          <a:p>
            <a:pPr>
              <a:spcBef>
                <a:spcPts val="300"/>
              </a:spcBef>
            </a:pPr>
            <a:endParaRPr lang="en-IN" sz="1600" dirty="0"/>
          </a:p>
          <a:p>
            <a:pPr>
              <a:spcBef>
                <a:spcPts val="300"/>
              </a:spcBef>
            </a:pPr>
            <a:r>
              <a:rPr lang="en-IN" sz="1600" b="1" dirty="0"/>
              <a:t>1. Text Editors:</a:t>
            </a:r>
          </a:p>
          <a:p>
            <a:pPr>
              <a:spcBef>
                <a:spcPts val="300"/>
              </a:spcBef>
            </a:pPr>
            <a:r>
              <a:rPr lang="en-IN" sz="1600" dirty="0"/>
              <a:t>	- VS Code (Visual Studio Code)</a:t>
            </a:r>
          </a:p>
          <a:p>
            <a:pPr>
              <a:spcBef>
                <a:spcPts val="300"/>
              </a:spcBef>
            </a:pPr>
            <a:r>
              <a:rPr lang="en-IN" sz="1600" dirty="0"/>
              <a:t>	- Sublime Text</a:t>
            </a:r>
          </a:p>
          <a:p>
            <a:pPr>
              <a:spcBef>
                <a:spcPts val="300"/>
              </a:spcBef>
            </a:pPr>
            <a:r>
              <a:rPr lang="en-IN" sz="1600" dirty="0"/>
              <a:t>	- Notepad++  </a:t>
            </a:r>
          </a:p>
          <a:p>
            <a:pPr>
              <a:spcBef>
                <a:spcPts val="300"/>
              </a:spcBef>
            </a:pPr>
            <a:r>
              <a:rPr lang="en-IN" sz="1600" dirty="0"/>
              <a:t>	- Atom  </a:t>
            </a:r>
          </a:p>
          <a:p>
            <a:pPr>
              <a:spcBef>
                <a:spcPts val="300"/>
              </a:spcBef>
            </a:pPr>
            <a:r>
              <a:rPr lang="en-IN" sz="1600" dirty="0"/>
              <a:t>	- Brackets  </a:t>
            </a:r>
          </a:p>
          <a:p>
            <a:pPr>
              <a:spcBef>
                <a:spcPts val="300"/>
              </a:spcBef>
            </a:pPr>
            <a:r>
              <a:rPr lang="en-US" sz="1600" b="1" dirty="0"/>
              <a:t>2.</a:t>
            </a:r>
            <a:r>
              <a:rPr lang="en-US" sz="1600" dirty="0"/>
              <a:t> </a:t>
            </a:r>
            <a:r>
              <a:rPr lang="en-US" sz="1600" b="1" dirty="0"/>
              <a:t>Web Browsers (for testing):</a:t>
            </a:r>
          </a:p>
          <a:p>
            <a:pPr>
              <a:spcBef>
                <a:spcPts val="300"/>
              </a:spcBef>
            </a:pPr>
            <a:r>
              <a:rPr lang="en-IN" sz="1600" dirty="0"/>
              <a:t>	- Google Chrome  </a:t>
            </a:r>
          </a:p>
          <a:p>
            <a:pPr>
              <a:spcBef>
                <a:spcPts val="300"/>
              </a:spcBef>
            </a:pPr>
            <a:r>
              <a:rPr lang="en-IN" sz="1600" dirty="0"/>
              <a:t>	- Mozilla Firefox  </a:t>
            </a:r>
          </a:p>
          <a:p>
            <a:pPr>
              <a:spcBef>
                <a:spcPts val="300"/>
              </a:spcBef>
            </a:pPr>
            <a:r>
              <a:rPr lang="en-IN" sz="1600" dirty="0"/>
              <a:t>	- Microsoft Edge  </a:t>
            </a:r>
          </a:p>
          <a:p>
            <a:pPr>
              <a:spcBef>
                <a:spcPts val="300"/>
              </a:spcBef>
            </a:pPr>
            <a:r>
              <a:rPr lang="en-IN" sz="1600" dirty="0"/>
              <a:t>	- Safari </a:t>
            </a:r>
          </a:p>
          <a:p>
            <a:pPr>
              <a:spcBef>
                <a:spcPts val="300"/>
              </a:spcBef>
            </a:pPr>
            <a:r>
              <a:rPr lang="en-IN" sz="1600" b="1" dirty="0"/>
              <a:t>3. Developer Tools:</a:t>
            </a:r>
          </a:p>
          <a:p>
            <a:pPr>
              <a:spcBef>
                <a:spcPts val="300"/>
              </a:spcBef>
            </a:pPr>
            <a:r>
              <a:rPr lang="fr-FR" sz="1600" dirty="0"/>
              <a:t>	- Chrome </a:t>
            </a:r>
            <a:r>
              <a:rPr lang="fr-FR" sz="1600" dirty="0" err="1"/>
              <a:t>DevTools</a:t>
            </a:r>
            <a:r>
              <a:rPr lang="fr-FR" sz="1600" dirty="0"/>
              <a:t> ( </a:t>
            </a:r>
            <a:r>
              <a:rPr lang="fr-FR" sz="1600" dirty="0" err="1"/>
              <a:t>inspect</a:t>
            </a:r>
            <a:r>
              <a:rPr lang="fr-FR" sz="1600" dirty="0"/>
              <a:t> </a:t>
            </a:r>
            <a:r>
              <a:rPr lang="fr-FR" sz="1600" dirty="0" err="1"/>
              <a:t>element</a:t>
            </a:r>
            <a:r>
              <a:rPr lang="fr-FR" sz="1600" dirty="0"/>
              <a:t> , console, etc.)  </a:t>
            </a:r>
          </a:p>
          <a:p>
            <a:pPr>
              <a:spcBef>
                <a:spcPts val="300"/>
              </a:spcBef>
            </a:pPr>
            <a:r>
              <a:rPr lang="en-IN" sz="1600" dirty="0"/>
              <a:t>	- Firefox Developer Tools  </a:t>
            </a:r>
          </a:p>
          <a:p>
            <a:pPr>
              <a:spcBef>
                <a:spcPts val="300"/>
              </a:spcBef>
            </a:pPr>
            <a:r>
              <a:rPr lang="en-IN" sz="1600" b="1" dirty="0"/>
              <a:t>4. Version Control:</a:t>
            </a:r>
          </a:p>
          <a:p>
            <a:pPr>
              <a:spcBef>
                <a:spcPts val="300"/>
              </a:spcBef>
            </a:pPr>
            <a:r>
              <a:rPr lang="en-IN" sz="1600" dirty="0"/>
              <a:t>	- Git</a:t>
            </a:r>
          </a:p>
          <a:p>
            <a:pPr>
              <a:spcBef>
                <a:spcPts val="300"/>
              </a:spcBef>
            </a:pPr>
            <a:r>
              <a:rPr lang="en-US" sz="1600" dirty="0"/>
              <a:t>	- GitHub(for hosting and sharing code)</a:t>
            </a:r>
          </a:p>
          <a:p>
            <a:pPr>
              <a:spcBef>
                <a:spcPts val="300"/>
              </a:spcBef>
            </a:pPr>
            <a:r>
              <a:rPr lang="en-US" sz="1600" b="1" dirty="0"/>
              <a:t>5. Live Server (Extension for VS Code):</a:t>
            </a:r>
          </a:p>
          <a:p>
            <a:pPr>
              <a:spcBef>
                <a:spcPts val="300"/>
              </a:spcBef>
            </a:pPr>
            <a:r>
              <a:rPr lang="en-US" sz="1600" dirty="0"/>
              <a:t>	- Instantly previews HTML in the browser</a:t>
            </a:r>
          </a:p>
          <a:p>
            <a:pPr>
              <a:spcBef>
                <a:spcPts val="300"/>
              </a:spcBef>
            </a:pPr>
            <a:endParaRPr lang="en-IN" sz="1600" dirty="0"/>
          </a:p>
        </p:txBody>
      </p:sp>
    </p:spTree>
    <p:extLst>
      <p:ext uri="{BB962C8B-B14F-4D97-AF65-F5344CB8AC3E}">
        <p14:creationId xmlns:p14="http://schemas.microsoft.com/office/powerpoint/2010/main" val="2974143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75FB6-0229-9A23-BB6A-E39C519BF3E6}"/>
              </a:ext>
            </a:extLst>
          </p:cNvPr>
          <p:cNvSpPr txBox="1"/>
          <p:nvPr/>
        </p:nvSpPr>
        <p:spPr>
          <a:xfrm>
            <a:off x="2203519" y="742276"/>
            <a:ext cx="8165960" cy="646331"/>
          </a:xfrm>
          <a:prstGeom prst="rect">
            <a:avLst/>
          </a:prstGeom>
          <a:noFill/>
        </p:spPr>
        <p:txBody>
          <a:bodyPr wrap="square">
            <a:spAutoFit/>
          </a:bodyPr>
          <a:lstStyle/>
          <a:p>
            <a:pPr algn="ctr"/>
            <a:r>
              <a:rPr lang="en-IN" sz="3600" b="0" i="0" u="none" strike="noStrike" baseline="0" dirty="0">
                <a:latin typeface="Algerian" panose="04020705040A02060702" pitchFamily="82" charset="0"/>
              </a:rPr>
              <a:t>PORTFOLIO DESIGN AND LAYOUT</a:t>
            </a:r>
            <a:endParaRPr lang="en-IN" sz="3600" dirty="0">
              <a:latin typeface="Algerian" panose="04020705040A02060702" pitchFamily="82" charset="0"/>
            </a:endParaRPr>
          </a:p>
        </p:txBody>
      </p:sp>
      <p:sp>
        <p:nvSpPr>
          <p:cNvPr id="5" name="TextBox 4">
            <a:extLst>
              <a:ext uri="{FF2B5EF4-FFF2-40B4-BE49-F238E27FC236}">
                <a16:creationId xmlns:a16="http://schemas.microsoft.com/office/drawing/2014/main" id="{63491F30-AB7D-F2CE-937A-D53A070C9E96}"/>
              </a:ext>
            </a:extLst>
          </p:cNvPr>
          <p:cNvSpPr txBox="1"/>
          <p:nvPr/>
        </p:nvSpPr>
        <p:spPr>
          <a:xfrm>
            <a:off x="977202" y="1388607"/>
            <a:ext cx="10618595" cy="4839786"/>
          </a:xfrm>
          <a:prstGeom prst="rect">
            <a:avLst/>
          </a:prstGeom>
          <a:noFill/>
        </p:spPr>
        <p:txBody>
          <a:bodyPr wrap="square">
            <a:spAutoFit/>
          </a:bodyPr>
          <a:lstStyle/>
          <a:p>
            <a:endParaRPr lang="en-IN" dirty="0"/>
          </a:p>
          <a:p>
            <a:pPr marL="285750" indent="-285750">
              <a:lnSpc>
                <a:spcPct val="150000"/>
              </a:lnSpc>
              <a:spcBef>
                <a:spcPts val="300"/>
              </a:spcBef>
              <a:buFont typeface="Wingdings" panose="05000000000000000000" pitchFamily="2" charset="2"/>
              <a:buChar char="§"/>
            </a:pPr>
            <a:r>
              <a:rPr lang="en-US" dirty="0"/>
              <a:t>The design and layout of a digital portfolio play a crucial role in how effectively it presents information. A well-structured portfolio typically follows a clean, user-friendly layout with clearly defined sections such as a header, about me, skills, projects, education, and contact information. The navigation bar allows users to easily move between these sections. Visually, the portfolio should maintain a consistent color scheme, typography, and spacing to ensure a professional look. Responsive design is essential so the portfolio looks good on all devices, including phones and tablets. Elements like images, icons, and buttons should be used meaningfully without cluttering the page. A balanced layout with proper alignment and white space improves readability and user experience, helping visitors focus on the content without distraction.</a:t>
            </a:r>
          </a:p>
          <a:p>
            <a:pPr algn="ctr"/>
            <a:endParaRPr lang="en-IN" sz="1800" dirty="0">
              <a:latin typeface="Algerian" panose="04020705040A02060702" pitchFamily="82" charset="0"/>
            </a:endParaRPr>
          </a:p>
        </p:txBody>
      </p:sp>
    </p:spTree>
    <p:extLst>
      <p:ext uri="{BB962C8B-B14F-4D97-AF65-F5344CB8AC3E}">
        <p14:creationId xmlns:p14="http://schemas.microsoft.com/office/powerpoint/2010/main" val="2575065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CA4B6E-EA8D-B12A-1B2A-C2F5D1FF86F4}"/>
              </a:ext>
            </a:extLst>
          </p:cNvPr>
          <p:cNvSpPr txBox="1"/>
          <p:nvPr/>
        </p:nvSpPr>
        <p:spPr>
          <a:xfrm>
            <a:off x="2418224" y="671142"/>
            <a:ext cx="7355551" cy="646331"/>
          </a:xfrm>
          <a:prstGeom prst="rect">
            <a:avLst/>
          </a:prstGeom>
          <a:noFill/>
        </p:spPr>
        <p:txBody>
          <a:bodyPr wrap="square">
            <a:spAutoFit/>
          </a:bodyPr>
          <a:lstStyle/>
          <a:p>
            <a:pPr algn="ctr"/>
            <a:r>
              <a:rPr lang="en-IN" sz="3600" dirty="0">
                <a:latin typeface="Algerian" panose="04020705040A02060702" pitchFamily="82" charset="0"/>
              </a:rPr>
              <a:t>FEATURE AND FUNTIONALITY</a:t>
            </a:r>
          </a:p>
        </p:txBody>
      </p:sp>
      <p:sp>
        <p:nvSpPr>
          <p:cNvPr id="4" name="TextBox 3">
            <a:extLst>
              <a:ext uri="{FF2B5EF4-FFF2-40B4-BE49-F238E27FC236}">
                <a16:creationId xmlns:a16="http://schemas.microsoft.com/office/drawing/2014/main" id="{8AAB3EE5-8A93-7192-B39E-4E8F86E76275}"/>
              </a:ext>
            </a:extLst>
          </p:cNvPr>
          <p:cNvSpPr txBox="1"/>
          <p:nvPr/>
        </p:nvSpPr>
        <p:spPr>
          <a:xfrm>
            <a:off x="511185" y="950276"/>
            <a:ext cx="10724783" cy="5475538"/>
          </a:xfrm>
          <a:prstGeom prst="rect">
            <a:avLst/>
          </a:prstGeom>
          <a:noFill/>
        </p:spPr>
        <p:txBody>
          <a:bodyPr wrap="square" rtlCol="0">
            <a:spAutoFit/>
          </a:bodyPr>
          <a:lstStyle/>
          <a:p>
            <a:pPr>
              <a:spcBef>
                <a:spcPts val="400"/>
              </a:spcBef>
            </a:pPr>
            <a:endParaRPr lang="en-IN" dirty="0"/>
          </a:p>
          <a:p>
            <a:pPr>
              <a:spcBef>
                <a:spcPts val="400"/>
              </a:spcBef>
            </a:pPr>
            <a:endParaRPr lang="en-US" dirty="0"/>
          </a:p>
          <a:p>
            <a:pPr marL="285750" indent="-285750">
              <a:spcBef>
                <a:spcPts val="400"/>
              </a:spcBef>
              <a:buFont typeface="Arial" panose="020B0604020202020204" pitchFamily="34" charset="0"/>
              <a:buChar char="•"/>
            </a:pPr>
            <a:r>
              <a:rPr lang="en-US" dirty="0"/>
              <a:t>A digital portfolio offers several key features to effectively showcase an individual’s skills and achievements. It typically includes personal information like name, photo, and contact details for easy communication. The portfolio highlights skills and technical abilities with organized sections or visual indicators. It showcases projects with descriptions, images, and links to live demos or code repositories.</a:t>
            </a:r>
          </a:p>
          <a:p>
            <a:pPr marL="285750" indent="-285750">
              <a:spcBef>
                <a:spcPts val="400"/>
              </a:spcBef>
              <a:buFont typeface="Arial" panose="020B0604020202020204" pitchFamily="34" charset="0"/>
              <a:buChar char="•"/>
            </a:pPr>
            <a:endParaRPr lang="en-US" dirty="0"/>
          </a:p>
          <a:p>
            <a:pPr marL="285750" indent="-285750">
              <a:spcBef>
                <a:spcPts val="400"/>
              </a:spcBef>
              <a:buFont typeface="Arial" panose="020B0604020202020204" pitchFamily="34" charset="0"/>
              <a:buChar char="•"/>
            </a:pPr>
            <a:r>
              <a:rPr lang="en-US" dirty="0"/>
              <a:t>The portfolio is designed to be responsive, ensuring it looks good on desktops, tablets, and smartphones. It often includes navigation menus for smooth browsing between sections. Some portfolios have interactive elements like dark mode toggles, animations, or real-time updates (e.g., displaying current time). Contact forms enable visitors to send messages directly. Additionally, integration with social media and platforms like </a:t>
            </a:r>
            <a:r>
              <a:rPr lang="en-US" dirty="0" err="1"/>
              <a:t>GitHubor</a:t>
            </a:r>
            <a:r>
              <a:rPr lang="en-US" dirty="0"/>
              <a:t> LinkedIn allows users to connect and verify work.</a:t>
            </a:r>
          </a:p>
          <a:p>
            <a:pPr marL="285750" indent="-285750">
              <a:spcBef>
                <a:spcPts val="400"/>
              </a:spcBef>
              <a:buFont typeface="Arial" panose="020B0604020202020204" pitchFamily="34" charset="0"/>
              <a:buChar char="•"/>
            </a:pPr>
            <a:endParaRPr lang="en-US" dirty="0"/>
          </a:p>
          <a:p>
            <a:pPr marL="285750" indent="-285750">
              <a:spcBef>
                <a:spcPts val="400"/>
              </a:spcBef>
              <a:buFont typeface="Arial" panose="020B0604020202020204" pitchFamily="34" charset="0"/>
              <a:buChar char="•"/>
            </a:pPr>
            <a:r>
              <a:rPr lang="en-US" dirty="0"/>
              <a:t>Overall, the functionality ensures the portfolio is easy to update, visually appealing, and accessible to potential employers, educators, or collaborators.</a:t>
            </a:r>
          </a:p>
          <a:p>
            <a:pPr>
              <a:lnSpc>
                <a:spcPct val="150000"/>
              </a:lnSpc>
            </a:pPr>
            <a:endParaRPr lang="en-IN" dirty="0"/>
          </a:p>
        </p:txBody>
      </p:sp>
    </p:spTree>
    <p:extLst>
      <p:ext uri="{BB962C8B-B14F-4D97-AF65-F5344CB8AC3E}">
        <p14:creationId xmlns:p14="http://schemas.microsoft.com/office/powerpoint/2010/main" val="919036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1534F0-CEBC-A13C-B732-9AFF3D8FC295}"/>
              </a:ext>
            </a:extLst>
          </p:cNvPr>
          <p:cNvSpPr txBox="1"/>
          <p:nvPr/>
        </p:nvSpPr>
        <p:spPr>
          <a:xfrm>
            <a:off x="2696347" y="449580"/>
            <a:ext cx="6799305" cy="707886"/>
          </a:xfrm>
          <a:prstGeom prst="rect">
            <a:avLst/>
          </a:prstGeom>
          <a:noFill/>
        </p:spPr>
        <p:txBody>
          <a:bodyPr wrap="square">
            <a:spAutoFit/>
          </a:bodyPr>
          <a:lstStyle/>
          <a:p>
            <a:pPr algn="ctr"/>
            <a:r>
              <a:rPr lang="en-IN" sz="3600" b="0" i="0" u="none" strike="noStrike" baseline="0" dirty="0">
                <a:latin typeface="Algerian" panose="04020705040A02060702" pitchFamily="82" charset="0"/>
              </a:rPr>
              <a:t>RESULT</a:t>
            </a:r>
            <a:r>
              <a:rPr lang="en-IN" sz="4000" b="0" i="0" u="none" strike="noStrike" baseline="0" dirty="0">
                <a:latin typeface="Algerian" panose="04020705040A02060702" pitchFamily="82" charset="0"/>
              </a:rPr>
              <a:t> AND SCREENSHOT</a:t>
            </a:r>
            <a:endParaRPr lang="en-IN" sz="4000" dirty="0">
              <a:latin typeface="Algerian" panose="04020705040A02060702" pitchFamily="82" charset="0"/>
            </a:endParaRPr>
          </a:p>
        </p:txBody>
      </p:sp>
      <p:pic>
        <p:nvPicPr>
          <p:cNvPr id="6" name="Picture 5">
            <a:extLst>
              <a:ext uri="{FF2B5EF4-FFF2-40B4-BE49-F238E27FC236}">
                <a16:creationId xmlns:a16="http://schemas.microsoft.com/office/drawing/2014/main" id="{81452486-2A93-6AD1-B9C8-89535976462E}"/>
              </a:ext>
            </a:extLst>
          </p:cNvPr>
          <p:cNvPicPr>
            <a:picLocks noChangeAspect="1"/>
          </p:cNvPicPr>
          <p:nvPr/>
        </p:nvPicPr>
        <p:blipFill>
          <a:blip r:embed="rId2"/>
          <a:stretch>
            <a:fillRect/>
          </a:stretch>
        </p:blipFill>
        <p:spPr>
          <a:xfrm>
            <a:off x="1976763" y="3939928"/>
            <a:ext cx="2035644" cy="2468492"/>
          </a:xfrm>
          <a:prstGeom prst="rect">
            <a:avLst/>
          </a:prstGeom>
        </p:spPr>
      </p:pic>
      <p:pic>
        <p:nvPicPr>
          <p:cNvPr id="8" name="Picture 7">
            <a:extLst>
              <a:ext uri="{FF2B5EF4-FFF2-40B4-BE49-F238E27FC236}">
                <a16:creationId xmlns:a16="http://schemas.microsoft.com/office/drawing/2014/main" id="{EFD2FBBD-5762-99B2-5A3C-2A7CF92CB928}"/>
              </a:ext>
            </a:extLst>
          </p:cNvPr>
          <p:cNvPicPr>
            <a:picLocks noChangeAspect="1"/>
          </p:cNvPicPr>
          <p:nvPr/>
        </p:nvPicPr>
        <p:blipFill>
          <a:blip r:embed="rId3"/>
          <a:stretch>
            <a:fillRect/>
          </a:stretch>
        </p:blipFill>
        <p:spPr>
          <a:xfrm>
            <a:off x="420135" y="1896818"/>
            <a:ext cx="2213923" cy="2668792"/>
          </a:xfrm>
          <a:prstGeom prst="rect">
            <a:avLst/>
          </a:prstGeom>
        </p:spPr>
      </p:pic>
      <p:pic>
        <p:nvPicPr>
          <p:cNvPr id="10" name="Picture 9">
            <a:extLst>
              <a:ext uri="{FF2B5EF4-FFF2-40B4-BE49-F238E27FC236}">
                <a16:creationId xmlns:a16="http://schemas.microsoft.com/office/drawing/2014/main" id="{C1DFAC5D-3552-5A21-4E0D-C5F6C7181271}"/>
              </a:ext>
            </a:extLst>
          </p:cNvPr>
          <p:cNvPicPr>
            <a:picLocks noChangeAspect="1"/>
          </p:cNvPicPr>
          <p:nvPr/>
        </p:nvPicPr>
        <p:blipFill>
          <a:blip r:embed="rId4"/>
          <a:stretch>
            <a:fillRect/>
          </a:stretch>
        </p:blipFill>
        <p:spPr>
          <a:xfrm>
            <a:off x="1831569" y="1896818"/>
            <a:ext cx="2216122" cy="2668791"/>
          </a:xfrm>
          <a:prstGeom prst="rect">
            <a:avLst/>
          </a:prstGeom>
        </p:spPr>
      </p:pic>
      <p:pic>
        <p:nvPicPr>
          <p:cNvPr id="12" name="Picture 11">
            <a:extLst>
              <a:ext uri="{FF2B5EF4-FFF2-40B4-BE49-F238E27FC236}">
                <a16:creationId xmlns:a16="http://schemas.microsoft.com/office/drawing/2014/main" id="{74872C01-FA99-EA9E-7616-74A4F2DFF58D}"/>
              </a:ext>
            </a:extLst>
          </p:cNvPr>
          <p:cNvPicPr>
            <a:picLocks noChangeAspect="1"/>
          </p:cNvPicPr>
          <p:nvPr/>
        </p:nvPicPr>
        <p:blipFill>
          <a:blip r:embed="rId5"/>
          <a:srcRect r="27470"/>
          <a:stretch>
            <a:fillRect/>
          </a:stretch>
        </p:blipFill>
        <p:spPr>
          <a:xfrm>
            <a:off x="400153" y="4067310"/>
            <a:ext cx="2347196" cy="1886723"/>
          </a:xfrm>
          <a:prstGeom prst="rect">
            <a:avLst/>
          </a:prstGeom>
        </p:spPr>
      </p:pic>
      <p:pic>
        <p:nvPicPr>
          <p:cNvPr id="23" name="Picture 22">
            <a:extLst>
              <a:ext uri="{FF2B5EF4-FFF2-40B4-BE49-F238E27FC236}">
                <a16:creationId xmlns:a16="http://schemas.microsoft.com/office/drawing/2014/main" id="{73EBEC2E-B3A2-512D-B53E-B830E9D57E8F}"/>
              </a:ext>
            </a:extLst>
          </p:cNvPr>
          <p:cNvPicPr>
            <a:picLocks noChangeAspect="1"/>
          </p:cNvPicPr>
          <p:nvPr/>
        </p:nvPicPr>
        <p:blipFill>
          <a:blip r:embed="rId6"/>
          <a:stretch>
            <a:fillRect/>
          </a:stretch>
        </p:blipFill>
        <p:spPr>
          <a:xfrm>
            <a:off x="8718517" y="2197687"/>
            <a:ext cx="3078781" cy="2785349"/>
          </a:xfrm>
          <a:prstGeom prst="rect">
            <a:avLst/>
          </a:prstGeom>
        </p:spPr>
      </p:pic>
      <p:pic>
        <p:nvPicPr>
          <p:cNvPr id="25" name="Picture 24">
            <a:extLst>
              <a:ext uri="{FF2B5EF4-FFF2-40B4-BE49-F238E27FC236}">
                <a16:creationId xmlns:a16="http://schemas.microsoft.com/office/drawing/2014/main" id="{D9B7316B-D45B-0978-80DA-9CE9309131A7}"/>
              </a:ext>
            </a:extLst>
          </p:cNvPr>
          <p:cNvPicPr>
            <a:picLocks noChangeAspect="1"/>
          </p:cNvPicPr>
          <p:nvPr/>
        </p:nvPicPr>
        <p:blipFill>
          <a:blip r:embed="rId7"/>
          <a:stretch>
            <a:fillRect/>
          </a:stretch>
        </p:blipFill>
        <p:spPr>
          <a:xfrm>
            <a:off x="4504087" y="1888710"/>
            <a:ext cx="2250208" cy="2947721"/>
          </a:xfrm>
          <a:prstGeom prst="rect">
            <a:avLst/>
          </a:prstGeom>
        </p:spPr>
      </p:pic>
      <p:pic>
        <p:nvPicPr>
          <p:cNvPr id="27" name="Picture 26">
            <a:extLst>
              <a:ext uri="{FF2B5EF4-FFF2-40B4-BE49-F238E27FC236}">
                <a16:creationId xmlns:a16="http://schemas.microsoft.com/office/drawing/2014/main" id="{5204E99D-8B43-5B89-595D-D69E3A3202C4}"/>
              </a:ext>
            </a:extLst>
          </p:cNvPr>
          <p:cNvPicPr>
            <a:picLocks noChangeAspect="1"/>
          </p:cNvPicPr>
          <p:nvPr/>
        </p:nvPicPr>
        <p:blipFill>
          <a:blip r:embed="rId8"/>
          <a:stretch>
            <a:fillRect/>
          </a:stretch>
        </p:blipFill>
        <p:spPr>
          <a:xfrm>
            <a:off x="4492791" y="3460701"/>
            <a:ext cx="2272687" cy="2947720"/>
          </a:xfrm>
          <a:prstGeom prst="rect">
            <a:avLst/>
          </a:prstGeom>
        </p:spPr>
      </p:pic>
      <p:pic>
        <p:nvPicPr>
          <p:cNvPr id="29" name="Picture 28">
            <a:extLst>
              <a:ext uri="{FF2B5EF4-FFF2-40B4-BE49-F238E27FC236}">
                <a16:creationId xmlns:a16="http://schemas.microsoft.com/office/drawing/2014/main" id="{8636BB7B-4159-15A2-519B-22345FB3723F}"/>
              </a:ext>
            </a:extLst>
          </p:cNvPr>
          <p:cNvPicPr>
            <a:picLocks noChangeAspect="1"/>
          </p:cNvPicPr>
          <p:nvPr/>
        </p:nvPicPr>
        <p:blipFill>
          <a:blip r:embed="rId9"/>
          <a:stretch>
            <a:fillRect/>
          </a:stretch>
        </p:blipFill>
        <p:spPr>
          <a:xfrm>
            <a:off x="5633864" y="1888712"/>
            <a:ext cx="2183382" cy="2947719"/>
          </a:xfrm>
          <a:prstGeom prst="rect">
            <a:avLst/>
          </a:prstGeom>
        </p:spPr>
      </p:pic>
      <p:pic>
        <p:nvPicPr>
          <p:cNvPr id="31" name="Picture 30">
            <a:extLst>
              <a:ext uri="{FF2B5EF4-FFF2-40B4-BE49-F238E27FC236}">
                <a16:creationId xmlns:a16="http://schemas.microsoft.com/office/drawing/2014/main" id="{73CEBCFA-9E05-4EBF-3E66-788136792492}"/>
              </a:ext>
            </a:extLst>
          </p:cNvPr>
          <p:cNvPicPr>
            <a:picLocks noChangeAspect="1"/>
          </p:cNvPicPr>
          <p:nvPr/>
        </p:nvPicPr>
        <p:blipFill>
          <a:blip r:embed="rId10"/>
          <a:srcRect r="30706"/>
          <a:stretch>
            <a:fillRect/>
          </a:stretch>
        </p:blipFill>
        <p:spPr>
          <a:xfrm>
            <a:off x="5632101" y="3938154"/>
            <a:ext cx="2183384" cy="2038839"/>
          </a:xfrm>
          <a:prstGeom prst="rect">
            <a:avLst/>
          </a:prstGeom>
        </p:spPr>
      </p:pic>
      <p:cxnSp>
        <p:nvCxnSpPr>
          <p:cNvPr id="33" name="Straight Connector 32">
            <a:extLst>
              <a:ext uri="{FF2B5EF4-FFF2-40B4-BE49-F238E27FC236}">
                <a16:creationId xmlns:a16="http://schemas.microsoft.com/office/drawing/2014/main" id="{0D36B023-3CFD-A5CE-F762-A895E7371B1E}"/>
              </a:ext>
            </a:extLst>
          </p:cNvPr>
          <p:cNvCxnSpPr/>
          <p:nvPr/>
        </p:nvCxnSpPr>
        <p:spPr>
          <a:xfrm>
            <a:off x="4375355" y="1169125"/>
            <a:ext cx="0" cy="5302328"/>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A8A740B-3569-DD60-9455-8A8FCDFADC4F}"/>
              </a:ext>
            </a:extLst>
          </p:cNvPr>
          <p:cNvCxnSpPr/>
          <p:nvPr/>
        </p:nvCxnSpPr>
        <p:spPr>
          <a:xfrm>
            <a:off x="8683600" y="1169125"/>
            <a:ext cx="0" cy="5302328"/>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85645F1-CE4F-C7DF-4E19-CAC73AB3EAAC}"/>
              </a:ext>
            </a:extLst>
          </p:cNvPr>
          <p:cNvCxnSpPr>
            <a:cxnSpLocks/>
          </p:cNvCxnSpPr>
          <p:nvPr/>
        </p:nvCxnSpPr>
        <p:spPr>
          <a:xfrm>
            <a:off x="360923" y="1833447"/>
            <a:ext cx="11477116" cy="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01ABE804-6FA4-5BE9-6C6E-CAA670518AE7}"/>
              </a:ext>
            </a:extLst>
          </p:cNvPr>
          <p:cNvCxnSpPr>
            <a:cxnSpLocks/>
          </p:cNvCxnSpPr>
          <p:nvPr/>
        </p:nvCxnSpPr>
        <p:spPr>
          <a:xfrm>
            <a:off x="360923" y="1169125"/>
            <a:ext cx="11477116" cy="0"/>
          </a:xfrm>
          <a:prstGeom prst="line">
            <a:avLst/>
          </a:prstGeom>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9A6AF6F6-CA02-0E3E-C21D-A74B5FA116BD}"/>
              </a:ext>
            </a:extLst>
          </p:cNvPr>
          <p:cNvSpPr txBox="1"/>
          <p:nvPr/>
        </p:nvSpPr>
        <p:spPr>
          <a:xfrm>
            <a:off x="1471900" y="1167079"/>
            <a:ext cx="1737976" cy="707886"/>
          </a:xfrm>
          <a:prstGeom prst="rect">
            <a:avLst/>
          </a:prstGeom>
          <a:noFill/>
        </p:spPr>
        <p:txBody>
          <a:bodyPr wrap="none" rtlCol="0">
            <a:spAutoFit/>
          </a:bodyPr>
          <a:lstStyle/>
          <a:p>
            <a:r>
              <a:rPr lang="en-IN" sz="4000" dirty="0"/>
              <a:t>HTML</a:t>
            </a:r>
          </a:p>
        </p:txBody>
      </p:sp>
      <p:sp>
        <p:nvSpPr>
          <p:cNvPr id="41" name="TextBox 40">
            <a:extLst>
              <a:ext uri="{FF2B5EF4-FFF2-40B4-BE49-F238E27FC236}">
                <a16:creationId xmlns:a16="http://schemas.microsoft.com/office/drawing/2014/main" id="{8F548F73-ED9C-F3B0-6E2F-571AE420065E}"/>
              </a:ext>
            </a:extLst>
          </p:cNvPr>
          <p:cNvSpPr txBox="1"/>
          <p:nvPr/>
        </p:nvSpPr>
        <p:spPr>
          <a:xfrm>
            <a:off x="5941720" y="1180823"/>
            <a:ext cx="1175515" cy="707886"/>
          </a:xfrm>
          <a:prstGeom prst="rect">
            <a:avLst/>
          </a:prstGeom>
          <a:noFill/>
        </p:spPr>
        <p:txBody>
          <a:bodyPr wrap="none" rtlCol="0">
            <a:spAutoFit/>
          </a:bodyPr>
          <a:lstStyle/>
          <a:p>
            <a:r>
              <a:rPr lang="en-IN" sz="4000" dirty="0"/>
              <a:t>CSS</a:t>
            </a:r>
          </a:p>
        </p:txBody>
      </p:sp>
      <p:sp>
        <p:nvSpPr>
          <p:cNvPr id="42" name="TextBox 41">
            <a:extLst>
              <a:ext uri="{FF2B5EF4-FFF2-40B4-BE49-F238E27FC236}">
                <a16:creationId xmlns:a16="http://schemas.microsoft.com/office/drawing/2014/main" id="{31627D8C-10CC-06AD-27E7-129871654824}"/>
              </a:ext>
            </a:extLst>
          </p:cNvPr>
          <p:cNvSpPr txBox="1"/>
          <p:nvPr/>
        </p:nvSpPr>
        <p:spPr>
          <a:xfrm>
            <a:off x="8683599" y="1228634"/>
            <a:ext cx="3559327" cy="646331"/>
          </a:xfrm>
          <a:prstGeom prst="rect">
            <a:avLst/>
          </a:prstGeom>
          <a:noFill/>
        </p:spPr>
        <p:txBody>
          <a:bodyPr wrap="square" rtlCol="0">
            <a:spAutoFit/>
          </a:bodyPr>
          <a:lstStyle/>
          <a:p>
            <a:r>
              <a:rPr lang="en-IN" sz="3600" dirty="0"/>
              <a:t>JAVA SCRIPT</a:t>
            </a:r>
          </a:p>
        </p:txBody>
      </p:sp>
    </p:spTree>
    <p:extLst>
      <p:ext uri="{BB962C8B-B14F-4D97-AF65-F5344CB8AC3E}">
        <p14:creationId xmlns:p14="http://schemas.microsoft.com/office/powerpoint/2010/main" val="3930799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2A9C5-775C-EDFF-9FFD-F5C31BBD96AA}"/>
              </a:ext>
            </a:extLst>
          </p:cNvPr>
          <p:cNvSpPr txBox="1"/>
          <p:nvPr/>
        </p:nvSpPr>
        <p:spPr>
          <a:xfrm>
            <a:off x="2832272" y="419891"/>
            <a:ext cx="6527456" cy="707886"/>
          </a:xfrm>
          <a:prstGeom prst="rect">
            <a:avLst/>
          </a:prstGeom>
          <a:noFill/>
        </p:spPr>
        <p:txBody>
          <a:bodyPr wrap="square">
            <a:spAutoFit/>
          </a:bodyPr>
          <a:lstStyle/>
          <a:p>
            <a:pPr algn="ctr"/>
            <a:r>
              <a:rPr lang="en-IN" sz="3600" b="0" i="0" u="none" strike="noStrike" baseline="0" dirty="0">
                <a:latin typeface="Algerian" panose="04020705040A02060702" pitchFamily="82" charset="0"/>
              </a:rPr>
              <a:t>RESULT</a:t>
            </a:r>
            <a:r>
              <a:rPr lang="en-IN" sz="4000" b="0" i="0" u="none" strike="noStrike" baseline="0" dirty="0">
                <a:latin typeface="Algerian" panose="04020705040A02060702" pitchFamily="82" charset="0"/>
              </a:rPr>
              <a:t> AND SCREENSHOT</a:t>
            </a:r>
            <a:endParaRPr lang="en-IN" sz="4000" dirty="0">
              <a:latin typeface="Algerian" panose="04020705040A02060702" pitchFamily="82" charset="0"/>
            </a:endParaRPr>
          </a:p>
        </p:txBody>
      </p:sp>
      <p:pic>
        <p:nvPicPr>
          <p:cNvPr id="14" name="Picture 13">
            <a:extLst>
              <a:ext uri="{FF2B5EF4-FFF2-40B4-BE49-F238E27FC236}">
                <a16:creationId xmlns:a16="http://schemas.microsoft.com/office/drawing/2014/main" id="{2A9F4CE1-DCE4-D3C0-6EF4-3F9CEDC4E689}"/>
              </a:ext>
            </a:extLst>
          </p:cNvPr>
          <p:cNvPicPr>
            <a:picLocks noChangeAspect="1"/>
          </p:cNvPicPr>
          <p:nvPr/>
        </p:nvPicPr>
        <p:blipFill>
          <a:blip r:embed="rId2"/>
          <a:stretch>
            <a:fillRect/>
          </a:stretch>
        </p:blipFill>
        <p:spPr>
          <a:xfrm>
            <a:off x="941054" y="1738085"/>
            <a:ext cx="3503126" cy="445114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a:extLst>
              <a:ext uri="{FF2B5EF4-FFF2-40B4-BE49-F238E27FC236}">
                <a16:creationId xmlns:a16="http://schemas.microsoft.com/office/drawing/2014/main" id="{86DD22CD-1646-CB1D-83DE-D3144DB6417F}"/>
              </a:ext>
            </a:extLst>
          </p:cNvPr>
          <p:cNvPicPr>
            <a:picLocks noChangeAspect="1"/>
          </p:cNvPicPr>
          <p:nvPr/>
        </p:nvPicPr>
        <p:blipFill>
          <a:blip r:embed="rId3"/>
          <a:stretch>
            <a:fillRect/>
          </a:stretch>
        </p:blipFill>
        <p:spPr>
          <a:xfrm>
            <a:off x="7747821" y="1249961"/>
            <a:ext cx="3503125" cy="49392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5" name="Connector: Elbow 4">
            <a:extLst>
              <a:ext uri="{FF2B5EF4-FFF2-40B4-BE49-F238E27FC236}">
                <a16:creationId xmlns:a16="http://schemas.microsoft.com/office/drawing/2014/main" id="{737FD8A6-0092-997B-EC07-DA345BC5A6EA}"/>
              </a:ext>
            </a:extLst>
          </p:cNvPr>
          <p:cNvCxnSpPr/>
          <p:nvPr/>
        </p:nvCxnSpPr>
        <p:spPr>
          <a:xfrm flipV="1">
            <a:off x="4444180" y="2271252"/>
            <a:ext cx="3303641" cy="3048000"/>
          </a:xfrm>
          <a:prstGeom prst="bentConnector3">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46193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C9DC03-24BA-A6F4-9BAC-E3AE15E1225B}"/>
              </a:ext>
            </a:extLst>
          </p:cNvPr>
          <p:cNvSpPr txBox="1"/>
          <p:nvPr/>
        </p:nvSpPr>
        <p:spPr>
          <a:xfrm>
            <a:off x="3046971" y="723555"/>
            <a:ext cx="6098058" cy="646331"/>
          </a:xfrm>
          <a:prstGeom prst="rect">
            <a:avLst/>
          </a:prstGeom>
          <a:noFill/>
        </p:spPr>
        <p:txBody>
          <a:bodyPr wrap="square">
            <a:spAutoFit/>
          </a:bodyPr>
          <a:lstStyle/>
          <a:p>
            <a:pPr algn="ctr"/>
            <a:r>
              <a:rPr lang="en-IN" sz="3600" b="0" i="0" u="none" strike="noStrike" baseline="0" dirty="0">
                <a:latin typeface="Algerian" panose="04020705040A02060702" pitchFamily="82" charset="0"/>
              </a:rPr>
              <a:t>CONCLUSION</a:t>
            </a:r>
            <a:endParaRPr lang="en-IN" sz="3600" dirty="0">
              <a:latin typeface="Algerian" panose="04020705040A02060702" pitchFamily="82" charset="0"/>
            </a:endParaRPr>
          </a:p>
        </p:txBody>
      </p:sp>
      <p:sp>
        <p:nvSpPr>
          <p:cNvPr id="4" name="TextBox 3">
            <a:extLst>
              <a:ext uri="{FF2B5EF4-FFF2-40B4-BE49-F238E27FC236}">
                <a16:creationId xmlns:a16="http://schemas.microsoft.com/office/drawing/2014/main" id="{801927EA-AED8-4AAD-E9BC-2E63DFEB920B}"/>
              </a:ext>
            </a:extLst>
          </p:cNvPr>
          <p:cNvSpPr txBox="1"/>
          <p:nvPr/>
        </p:nvSpPr>
        <p:spPr>
          <a:xfrm>
            <a:off x="499779" y="934428"/>
            <a:ext cx="11192442" cy="4429098"/>
          </a:xfrm>
          <a:prstGeom prst="rect">
            <a:avLst/>
          </a:prstGeom>
          <a:noFill/>
        </p:spPr>
        <p:txBody>
          <a:bodyPr wrap="square" rtlCol="0">
            <a:spAutoFit/>
          </a:bodyPr>
          <a:lstStyle/>
          <a:p>
            <a:pPr>
              <a:lnSpc>
                <a:spcPct val="150000"/>
              </a:lnSpc>
              <a:spcBef>
                <a:spcPts val="600"/>
              </a:spcBef>
            </a:pPr>
            <a:endParaRPr lang="en-IN" dirty="0"/>
          </a:p>
          <a:p>
            <a:pPr>
              <a:lnSpc>
                <a:spcPct val="150000"/>
              </a:lnSpc>
              <a:spcBef>
                <a:spcPts val="600"/>
              </a:spcBef>
            </a:pPr>
            <a:endParaRPr lang="en-IN" dirty="0"/>
          </a:p>
          <a:p>
            <a:pPr marL="285750" indent="-285750">
              <a:lnSpc>
                <a:spcPct val="150000"/>
              </a:lnSpc>
              <a:spcBef>
                <a:spcPts val="600"/>
              </a:spcBef>
              <a:buFont typeface="Wingdings" panose="05000000000000000000" pitchFamily="2" charset="2"/>
              <a:buChar char="§"/>
            </a:pPr>
            <a:r>
              <a:rPr lang="en-US" dirty="0"/>
              <a:t>Creating a digital portfolio is an effective way for students and professionals to showcase their skills, projects, and achievements in a modern, accessible format. It provides a dynamic platform that goes beyond traditional resumes by offering visual appeal and interactivity. A well-designed portfolio helps individuals stand out to employers, educators, and collaborators by presenting their work clearly and professionally. Additionally, maintaining a digital portfolio encourages continuous learning and self-promotion, which are essential in today’s competitive world. Overall, a digital portfolio is a valuable tool for personal branding and career growth.</a:t>
            </a:r>
          </a:p>
          <a:p>
            <a:pPr>
              <a:lnSpc>
                <a:spcPct val="150000"/>
              </a:lnSpc>
              <a:spcBef>
                <a:spcPts val="600"/>
              </a:spcBef>
            </a:pPr>
            <a:endParaRPr lang="en-IN" dirty="0"/>
          </a:p>
        </p:txBody>
      </p:sp>
    </p:spTree>
    <p:extLst>
      <p:ext uri="{BB962C8B-B14F-4D97-AF65-F5344CB8AC3E}">
        <p14:creationId xmlns:p14="http://schemas.microsoft.com/office/powerpoint/2010/main" val="3660863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2.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customXml/itemProps2.xml><?xml version="1.0" encoding="utf-8"?>
<ds:datastoreItem xmlns:ds="http://schemas.openxmlformats.org/officeDocument/2006/customXml" ds:itemID="{52F3B215-496E-4790-A364-7C1C46DEC771}">
  <ds:schemaRefs>
    <ds:schemaRef ds:uri="http://schemas.microsoft.com/office/2006/metadata/properties"/>
    <ds:schemaRef ds:uri="http://www.w3.org/2000/xmlns/"/>
    <ds:schemaRef ds:uri="71af3243-3dd4-4a8d-8c0d-dd76da1f02a5"/>
    <ds:schemaRef ds:uri="http://www.w3.org/2001/XMLSchema-instance"/>
  </ds:schemaRefs>
</ds:datastoreItem>
</file>

<file path=customXml/itemProps3.xml><?xml version="1.0" encoding="utf-8"?>
<ds:datastoreItem xmlns:ds="http://schemas.openxmlformats.org/officeDocument/2006/customXml" ds:itemID="{AE2713E1-6312-427E-BFCB-C5A5DA3013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{DDA18025-9D2D-4DAF-B282-8251A4FF8113}tf78829772_win32</Template>
  <TotalTime>237</TotalTime>
  <Words>978</Words>
  <Application>Microsoft Office PowerPoint</Application>
  <PresentationFormat>Widescreen</PresentationFormat>
  <Paragraphs>87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SavonVTI</vt:lpstr>
      <vt:lpstr>PowerPoint Presentation</vt:lpstr>
      <vt:lpstr>PROJECT TITTLE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HAARVIN</dc:creator>
  <cp:lastModifiedBy>DEEPAK HAARVIN</cp:lastModifiedBy>
  <cp:revision>19</cp:revision>
  <dcterms:created xsi:type="dcterms:W3CDTF">2025-08-28T08:08:26Z</dcterms:created>
  <dcterms:modified xsi:type="dcterms:W3CDTF">2025-09-18T11:32:41Z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